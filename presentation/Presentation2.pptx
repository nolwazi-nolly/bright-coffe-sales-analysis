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58446-CA5B-4F7D-AB2A-D60E531115E2}" v="80" dt="2026-04-20T20:13:16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Coffe%20project%20results%20no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Coffe%20project%20results%20no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d7a0ab3191bdd4b2/Documents/BOBOE/SQL%20Quries/Coffe%20project%20results%20noe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Coffe%20project%20results%20no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Coffe%20project%20results%20no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Coffe%20project%20results%20no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Coffe%20project%20results%20no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[Coffe project results noe.xlsx]pivot tables!PivotTable1</c:name>
    <c:fmtId val="4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1" u="none" strike="noStrike" baseline="0" dirty="0">
                <a:solidFill>
                  <a:schemeClr val="tx1"/>
                </a:solidFill>
              </a:rPr>
              <a:t>Hell’s Kitchen generates the highest revenue at $236,511.17</a:t>
            </a:r>
            <a:endParaRPr lang="en-US" sz="1600" b="1" i="1" baseline="0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11814688764268E-3"/>
          <c:y val="1.530502720452014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tables'!$A$4:$A$6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'pivot tables'!$B$4:$B$6</c:f>
              <c:numCache>
                <c:formatCode>"$"#,##0</c:formatCode>
                <c:ptCount val="3"/>
                <c:pt idx="0">
                  <c:v>236511.16984724998</c:v>
                </c:pt>
                <c:pt idx="1">
                  <c:v>232243.90983474255</c:v>
                </c:pt>
                <c:pt idx="2">
                  <c:v>230057.24992901087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FA-4B4D-9805-AA07E2F63C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768898208"/>
        <c:axId val="768889088"/>
      </c:barChart>
      <c:catAx>
        <c:axId val="7688982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889088"/>
        <c:crosses val="autoZero"/>
        <c:auto val="1"/>
        <c:lblAlgn val="ctr"/>
        <c:lblOffset val="100"/>
        <c:noMultiLvlLbl val="0"/>
      </c:catAx>
      <c:valAx>
        <c:axId val="768889088"/>
        <c:scaling>
          <c:orientation val="minMax"/>
        </c:scaling>
        <c:delete val="1"/>
        <c:axPos val="b"/>
        <c:numFmt formatCode="&quot;$&quot;#,##0" sourceLinked="1"/>
        <c:majorTickMark val="out"/>
        <c:minorTickMark val="none"/>
        <c:tickLblPos val="nextTo"/>
        <c:crossAx val="768898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 project results noe.xlsx]pivot tables!PivotTable3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1" u="none" strike="noStrike" baseline="0" dirty="0">
                <a:solidFill>
                  <a:schemeClr val="tx1"/>
                </a:solidFill>
              </a:rPr>
              <a:t>Consistent growth despite </a:t>
            </a:r>
            <a:r>
              <a:rPr lang="en-US" sz="1800" b="1" i="1" u="none" strike="noStrike" baseline="0" dirty="0" err="1">
                <a:solidFill>
                  <a:schemeClr val="tx1"/>
                </a:solidFill>
              </a:rPr>
              <a:t>february</a:t>
            </a:r>
            <a:r>
              <a:rPr lang="en-US" sz="1800" b="1" i="1" u="none" strike="noStrike" baseline="0" dirty="0">
                <a:solidFill>
                  <a:schemeClr val="tx1"/>
                </a:solidFill>
              </a:rPr>
              <a:t> dip</a:t>
            </a:r>
            <a:endParaRPr lang="en-US" sz="1800" b="1" i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3827711215077596E-4"/>
          <c:y val="4.69228234090946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tables'!$B$20:$B$21</c:f>
              <c:strCache>
                <c:ptCount val="1"/>
                <c:pt idx="0">
                  <c:v>Astoria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'pivot tables'!$A$22:$A$27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'pivot tables'!$B$22:$B$27</c:f>
              <c:numCache>
                <c:formatCode>"$"#,##0</c:formatCode>
                <c:ptCount val="6"/>
                <c:pt idx="0">
                  <c:v>27313.659982383251</c:v>
                </c:pt>
                <c:pt idx="1">
                  <c:v>25105.339984893799</c:v>
                </c:pt>
                <c:pt idx="2">
                  <c:v>32835.429979026318</c:v>
                </c:pt>
                <c:pt idx="3">
                  <c:v>39477.609966754913</c:v>
                </c:pt>
                <c:pt idx="4">
                  <c:v>52428.759961903095</c:v>
                </c:pt>
                <c:pt idx="5">
                  <c:v>55083.10995978117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86-4009-9F53-1749AE3A3059}"/>
            </c:ext>
          </c:extLst>
        </c:ser>
        <c:ser>
          <c:idx val="1"/>
          <c:order val="1"/>
          <c:tx>
            <c:strRef>
              <c:f>'pivot tables'!$C$20:$C$21</c:f>
              <c:strCache>
                <c:ptCount val="1"/>
                <c:pt idx="0">
                  <c:v>Hell's Kitchen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'pivot tables'!$A$22:$A$27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'pivot tables'!$C$22:$C$27</c:f>
              <c:numCache>
                <c:formatCode>"$"#,##0</c:formatCode>
                <c:ptCount val="6"/>
                <c:pt idx="0">
                  <c:v>27820.649984240532</c:v>
                </c:pt>
                <c:pt idx="1">
                  <c:v>25719.799985408783</c:v>
                </c:pt>
                <c:pt idx="2">
                  <c:v>33110.569976389408</c:v>
                </c:pt>
                <c:pt idx="3">
                  <c:v>40304.139974892139</c:v>
                </c:pt>
                <c:pt idx="4">
                  <c:v>52598.929962694645</c:v>
                </c:pt>
                <c:pt idx="5">
                  <c:v>56957.079963624477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86-4009-9F53-1749AE3A3059}"/>
            </c:ext>
          </c:extLst>
        </c:ser>
        <c:ser>
          <c:idx val="2"/>
          <c:order val="2"/>
          <c:tx>
            <c:strRef>
              <c:f>'pivot tables'!$D$20:$D$21</c:f>
              <c:strCache>
                <c:ptCount val="1"/>
                <c:pt idx="0">
                  <c:v>Lower Manhattan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'pivot tables'!$A$22:$A$27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'pivot tables'!$D$22:$D$27</c:f>
              <c:numCache>
                <c:formatCode>"$"#,##0</c:formatCode>
                <c:ptCount val="6"/>
                <c:pt idx="0">
                  <c:v>26543.429992973804</c:v>
                </c:pt>
                <c:pt idx="1">
                  <c:v>25320.049992501736</c:v>
                </c:pt>
                <c:pt idx="2">
                  <c:v>32888.679985582829</c:v>
                </c:pt>
                <c:pt idx="3">
                  <c:v>39159.329988956451</c:v>
                </c:pt>
                <c:pt idx="4">
                  <c:v>51700.069984197617</c:v>
                </c:pt>
                <c:pt idx="5">
                  <c:v>54445.689984798431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A86-4009-9F53-1749AE3A3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730944"/>
        <c:axId val="608711264"/>
      </c:lineChart>
      <c:catAx>
        <c:axId val="608730944"/>
        <c:scaling>
          <c:orientation val="minMax"/>
        </c:scaling>
        <c:delete val="0"/>
        <c:axPos val="b"/>
        <c:numFmt formatCode="&quot;$&quot;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11264"/>
        <c:crosses val="autoZero"/>
        <c:auto val="1"/>
        <c:lblAlgn val="ctr"/>
        <c:lblOffset val="100"/>
        <c:noMultiLvlLbl val="0"/>
      </c:catAx>
      <c:valAx>
        <c:axId val="608711264"/>
        <c:scaling>
          <c:orientation val="minMax"/>
          <c:max val="600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Revenue</a:t>
                </a:r>
              </a:p>
            </c:rich>
          </c:tx>
          <c:layout>
            <c:manualLayout>
              <c:xMode val="edge"/>
              <c:yMode val="edge"/>
              <c:x val="1.4277392880607752E-2"/>
              <c:y val="0.3084898535860121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 project results noe.xlsx]pivot tables!PivotTable4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1" u="none" strike="noStrike" baseline="0" dirty="0">
                <a:solidFill>
                  <a:schemeClr val="tx1"/>
                </a:solidFill>
              </a:rPr>
              <a:t>Revenue is heavily driven by </a:t>
            </a:r>
            <a:r>
              <a:rPr lang="en-US" sz="1800" b="1" i="1" u="none" strike="noStrike" baseline="0" dirty="0">
                <a:solidFill>
                  <a:schemeClr val="accent1"/>
                </a:solidFill>
              </a:rPr>
              <a:t>weekday</a:t>
            </a:r>
            <a:r>
              <a:rPr lang="en-US" sz="1800" b="1" i="1" u="none" strike="noStrike" baseline="0" dirty="0">
                <a:solidFill>
                  <a:schemeClr val="tx1"/>
                </a:solidFill>
              </a:rPr>
              <a:t> activity </a:t>
            </a:r>
            <a:endParaRPr lang="en-US" sz="1800" b="1" i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7.2837045675785148E-4"/>
          <c:y val="0"/>
        </c:manualLayout>
      </c:layout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603394989827454"/>
          <c:y val="0.21888013524718936"/>
          <c:w val="0.5988990458430834"/>
          <c:h val="0.674090769423894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tables'!$B$32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tables'!$A$33:$A$34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'pivot tables'!$B$33:$B$34</c:f>
              <c:numCache>
                <c:formatCode>0.00%</c:formatCode>
                <c:ptCount val="2"/>
                <c:pt idx="0">
                  <c:v>0.72063344961764397</c:v>
                </c:pt>
                <c:pt idx="1">
                  <c:v>0.27936655038235597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FD-4B28-BC0C-DC828E380F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08728544"/>
        <c:axId val="608708384"/>
      </c:barChart>
      <c:catAx>
        <c:axId val="608728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08384"/>
        <c:crosses val="autoZero"/>
        <c:auto val="1"/>
        <c:lblAlgn val="ctr"/>
        <c:lblOffset val="100"/>
        <c:noMultiLvlLbl val="0"/>
      </c:catAx>
      <c:valAx>
        <c:axId val="608708384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608728544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 project results noe.xlsx]pivot tables!PivotTable31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1" dirty="0">
                <a:solidFill>
                  <a:schemeClr val="tx1"/>
                </a:solidFill>
              </a:rPr>
              <a:t>Monday and Friday Lead — Weekends Lag</a:t>
            </a:r>
          </a:p>
        </c:rich>
      </c:tx>
      <c:layout>
        <c:manualLayout>
          <c:xMode val="edge"/>
          <c:yMode val="edge"/>
          <c:x val="3.7717681311409072E-4"/>
          <c:y val="3.14447734453592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tables'!$B$127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tables'!$A$128:$A$134</c:f>
              <c:strCache>
                <c:ptCount val="7"/>
                <c:pt idx="0">
                  <c:v>Monday</c:v>
                </c:pt>
                <c:pt idx="1">
                  <c:v>Friday</c:v>
                </c:pt>
                <c:pt idx="2">
                  <c:v>Thursday</c:v>
                </c:pt>
                <c:pt idx="3">
                  <c:v>Wednesday</c:v>
                </c:pt>
                <c:pt idx="4">
                  <c:v>Tuesday</c:v>
                </c:pt>
                <c:pt idx="5">
                  <c:v>Sunday</c:v>
                </c:pt>
                <c:pt idx="6">
                  <c:v>Saturday</c:v>
                </c:pt>
              </c:strCache>
            </c:strRef>
          </c:cat>
          <c:val>
            <c:numRef>
              <c:f>'pivot tables'!$B$128:$B$134</c:f>
              <c:numCache>
                <c:formatCode>"$"#,##0.00</c:formatCode>
                <c:ptCount val="7"/>
                <c:pt idx="0">
                  <c:v>101677.279941082</c:v>
                </c:pt>
                <c:pt idx="1">
                  <c:v>101372.99995201826</c:v>
                </c:pt>
                <c:pt idx="2">
                  <c:v>100767.77993744612</c:v>
                </c:pt>
                <c:pt idx="3">
                  <c:v>100313.53993958235</c:v>
                </c:pt>
                <c:pt idx="4">
                  <c:v>99455.939952790737</c:v>
                </c:pt>
                <c:pt idx="5">
                  <c:v>98330.309937894344</c:v>
                </c:pt>
                <c:pt idx="6">
                  <c:v>96894.47995018959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D3-4BC6-87F2-81DF0DB41A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8884288"/>
        <c:axId val="768901568"/>
      </c:barChart>
      <c:catAx>
        <c:axId val="768884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901568"/>
        <c:crosses val="autoZero"/>
        <c:auto val="1"/>
        <c:lblAlgn val="ctr"/>
        <c:lblOffset val="100"/>
        <c:noMultiLvlLbl val="0"/>
      </c:catAx>
      <c:valAx>
        <c:axId val="76890156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884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 project results noe.xlsx]pivot tables!PivotTable2</c:name>
    <c:fmtId val="3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1" u="none" strike="noStrike" baseline="0">
                <a:solidFill>
                  <a:schemeClr val="tx1"/>
                </a:solidFill>
                <a:effectLst/>
              </a:rPr>
              <a:t>Morning drives the highest revenue across all locations</a:t>
            </a:r>
            <a:endParaRPr lang="en-US" sz="1800" b="1" i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023622047244094"/>
          <c:y val="0.20066733992734076"/>
          <c:w val="0.68161661042369703"/>
          <c:h val="0.668689588478944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tables'!$B$12:$B$13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tables'!$A$14:$A$16</c:f>
              <c:strCache>
                <c:ptCount val="3"/>
                <c:pt idx="0">
                  <c:v>Lower Manhattan</c:v>
                </c:pt>
                <c:pt idx="1">
                  <c:v>Hell's Kitchen</c:v>
                </c:pt>
                <c:pt idx="2">
                  <c:v>Astoria</c:v>
                </c:pt>
              </c:strCache>
            </c:strRef>
          </c:cat>
          <c:val>
            <c:numRef>
              <c:f>'pivot tables'!$B$14:$B$16</c:f>
              <c:numCache>
                <c:formatCode>_([$$-409]* #,##0_);_([$$-409]* \(#,##0\);_([$$-409]* "-"??_);_(@_)</c:formatCode>
                <c:ptCount val="3"/>
                <c:pt idx="0">
                  <c:v>67141.259976148605</c:v>
                </c:pt>
                <c:pt idx="1">
                  <c:v>59012.429948925972</c:v>
                </c:pt>
                <c:pt idx="2">
                  <c:v>78567.139933586121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60-4079-9F6C-5C2AD96FCA0E}"/>
            </c:ext>
          </c:extLst>
        </c:ser>
        <c:ser>
          <c:idx val="1"/>
          <c:order val="1"/>
          <c:tx>
            <c:strRef>
              <c:f>'pivot tables'!$C$12:$C$13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'pivot tables'!$A$14:$A$16</c:f>
              <c:strCache>
                <c:ptCount val="3"/>
                <c:pt idx="0">
                  <c:v>Lower Manhattan</c:v>
                </c:pt>
                <c:pt idx="1">
                  <c:v>Hell's Kitchen</c:v>
                </c:pt>
                <c:pt idx="2">
                  <c:v>Astoria</c:v>
                </c:pt>
              </c:strCache>
            </c:strRef>
          </c:cat>
          <c:val>
            <c:numRef>
              <c:f>'pivot tables'!$C$14:$C$16</c:f>
              <c:numCache>
                <c:formatCode>_([$$-409]* #,##0_);_([$$-409]* \(#,##0\);_([$$-409]* "-"??_);_(@_)</c:formatCode>
                <c:ptCount val="3"/>
                <c:pt idx="0">
                  <c:v>19013.139998197556</c:v>
                </c:pt>
                <c:pt idx="1">
                  <c:v>38055.439972281456</c:v>
                </c:pt>
                <c:pt idx="2">
                  <c:v>48734.249968647957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60-4079-9F6C-5C2AD96FCA0E}"/>
            </c:ext>
          </c:extLst>
        </c:ser>
        <c:ser>
          <c:idx val="2"/>
          <c:order val="2"/>
          <c:tx>
            <c:strRef>
              <c:f>'pivot tables'!$D$12:$D$13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'pivot tables'!$A$14:$A$16</c:f>
              <c:strCache>
                <c:ptCount val="3"/>
                <c:pt idx="0">
                  <c:v>Lower Manhattan</c:v>
                </c:pt>
                <c:pt idx="1">
                  <c:v>Hell's Kitchen</c:v>
                </c:pt>
                <c:pt idx="2">
                  <c:v>Astoria</c:v>
                </c:pt>
              </c:strCache>
            </c:strRef>
          </c:cat>
          <c:val>
            <c:numRef>
              <c:f>'pivot tables'!$D$14:$D$16</c:f>
              <c:numCache>
                <c:formatCode>_([$$-409]* #,##0_);_([$$-409]* \(#,##0\);_([$$-409]* "-"??_);_(@_)</c:formatCode>
                <c:ptCount val="3"/>
                <c:pt idx="0">
                  <c:v>143902.84995466471</c:v>
                </c:pt>
                <c:pt idx="1">
                  <c:v>139443.29992604256</c:v>
                </c:pt>
                <c:pt idx="2">
                  <c:v>104942.51993250847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60-4079-9F6C-5C2AD96FC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8890048"/>
        <c:axId val="768879488"/>
      </c:barChart>
      <c:catAx>
        <c:axId val="768890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879488"/>
        <c:crosses val="autoZero"/>
        <c:auto val="1"/>
        <c:lblAlgn val="ctr"/>
        <c:lblOffset val="100"/>
        <c:noMultiLvlLbl val="0"/>
      </c:catAx>
      <c:valAx>
        <c:axId val="768879488"/>
        <c:scaling>
          <c:orientation val="minMax"/>
        </c:scaling>
        <c:delete val="0"/>
        <c:axPos val="l"/>
        <c:numFmt formatCode="_([$$-409]* #,##0_);_([$$-409]* \(#,##0\);_([$$-409]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890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 project results noe.xlsx]pivot tables!PivotTable6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1" u="none" strike="noStrike" baseline="0" dirty="0">
                <a:solidFill>
                  <a:schemeClr val="accent1"/>
                </a:solidFill>
              </a:rPr>
              <a:t>Coffee</a:t>
            </a:r>
            <a:r>
              <a:rPr lang="en-US" sz="1800" b="1" i="1" u="none" strike="noStrike" baseline="0" dirty="0">
                <a:solidFill>
                  <a:schemeClr val="tx1"/>
                </a:solidFill>
              </a:rPr>
              <a:t> and </a:t>
            </a:r>
            <a:r>
              <a:rPr lang="en-US" sz="1800" b="1" i="1" u="none" strike="noStrike" baseline="0" dirty="0">
                <a:solidFill>
                  <a:schemeClr val="accent1"/>
                </a:solidFill>
              </a:rPr>
              <a:t>tea</a:t>
            </a:r>
            <a:r>
              <a:rPr lang="en-US" sz="1800" b="1" i="1" u="none" strike="noStrike" baseline="0" dirty="0">
                <a:solidFill>
                  <a:schemeClr val="tx1"/>
                </a:solidFill>
              </a:rPr>
              <a:t> dominate revenue, generating over two-thirds of total sales</a:t>
            </a:r>
            <a:endParaRPr lang="en-US" sz="1800" b="1" i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9683114687409774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tables'!$B$60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tables'!$A$61:$A$69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Coffee beans</c:v>
                </c:pt>
                <c:pt idx="5">
                  <c:v>Branded</c:v>
                </c:pt>
                <c:pt idx="6">
                  <c:v>Loose Tea</c:v>
                </c:pt>
                <c:pt idx="7">
                  <c:v>Flavours</c:v>
                </c:pt>
                <c:pt idx="8">
                  <c:v>Packaged Chocolate</c:v>
                </c:pt>
              </c:strCache>
            </c:strRef>
          </c:cat>
          <c:val>
            <c:numRef>
              <c:f>'pivot tables'!$B$61:$B$69</c:f>
              <c:numCache>
                <c:formatCode>0.00%</c:formatCode>
                <c:ptCount val="9"/>
                <c:pt idx="0">
                  <c:v>0.3863017847465926</c:v>
                </c:pt>
                <c:pt idx="1">
                  <c:v>0.28105678886696689</c:v>
                </c:pt>
                <c:pt idx="2">
                  <c:v>0.11779362864683335</c:v>
                </c:pt>
                <c:pt idx="3">
                  <c:v>0.10362725002335126</c:v>
                </c:pt>
                <c:pt idx="4">
                  <c:v>5.7361967463788924E-2</c:v>
                </c:pt>
                <c:pt idx="5">
                  <c:v>1.9471608360966369E-2</c:v>
                </c:pt>
                <c:pt idx="6">
                  <c:v>1.60466542395198E-2</c:v>
                </c:pt>
                <c:pt idx="7">
                  <c:v>1.2032987640589679E-2</c:v>
                </c:pt>
                <c:pt idx="8">
                  <c:v>6.3073300113911579E-3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E5-4A43-A3BB-2E00D0D775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08748704"/>
        <c:axId val="608749184"/>
      </c:barChart>
      <c:catAx>
        <c:axId val="608748704"/>
        <c:scaling>
          <c:orientation val="minMax"/>
        </c:scaling>
        <c:delete val="0"/>
        <c:axPos val="b"/>
        <c:numFmt formatCode="&quot;$&quot;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49184"/>
        <c:crosses val="autoZero"/>
        <c:auto val="1"/>
        <c:lblAlgn val="ctr"/>
        <c:lblOffset val="100"/>
        <c:noMultiLvlLbl val="0"/>
      </c:catAx>
      <c:valAx>
        <c:axId val="608749184"/>
        <c:scaling>
          <c:orientation val="minMax"/>
        </c:scaling>
        <c:delete val="1"/>
        <c:axPos val="l"/>
        <c:numFmt formatCode="0.00%" sourceLinked="1"/>
        <c:majorTickMark val="out"/>
        <c:minorTickMark val="none"/>
        <c:tickLblPos val="nextTo"/>
        <c:crossAx val="608748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1">
                <a:solidFill>
                  <a:schemeClr val="tx1"/>
                </a:solidFill>
              </a:rPr>
              <a:t>Coffee and Tea lead with both high sales and high revenue</a:t>
            </a:r>
          </a:p>
        </c:rich>
      </c:tx>
      <c:layout>
        <c:manualLayout>
          <c:xMode val="edge"/>
          <c:yMode val="edge"/>
          <c:x val="2.1195590806760418E-4"/>
          <c:y val="6.267129743402982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337270341207349"/>
          <c:y val="0.17171296296296296"/>
          <c:w val="0.56829483814523185"/>
          <c:h val="0.343385462233887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tables'!$B$106</c:f>
              <c:strCache>
                <c:ptCount val="1"/>
                <c:pt idx="0">
                  <c:v>number_of_sales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tables'!$A$107:$A$115</c:f>
              <c:strCache>
                <c:ptCount val="9"/>
                <c:pt idx="0">
                  <c:v>Packaged Chocolate</c:v>
                </c:pt>
                <c:pt idx="1">
                  <c:v>Branded</c:v>
                </c:pt>
                <c:pt idx="2">
                  <c:v>Loose Tea</c:v>
                </c:pt>
                <c:pt idx="3">
                  <c:v>Coffee beans</c:v>
                </c:pt>
                <c:pt idx="4">
                  <c:v>Flavours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'pivot tables'!$B$107:$B$115</c:f>
              <c:numCache>
                <c:formatCode>General</c:formatCode>
                <c:ptCount val="9"/>
                <c:pt idx="0">
                  <c:v>487</c:v>
                </c:pt>
                <c:pt idx="1">
                  <c:v>747</c:v>
                </c:pt>
                <c:pt idx="2">
                  <c:v>1210</c:v>
                </c:pt>
                <c:pt idx="3">
                  <c:v>1753</c:v>
                </c:pt>
                <c:pt idx="4">
                  <c:v>6790</c:v>
                </c:pt>
                <c:pt idx="5">
                  <c:v>11468</c:v>
                </c:pt>
                <c:pt idx="6">
                  <c:v>22796</c:v>
                </c:pt>
                <c:pt idx="7">
                  <c:v>45449</c:v>
                </c:pt>
                <c:pt idx="8">
                  <c:v>58416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A2-4312-AC3E-C497A2812F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4763904"/>
        <c:axId val="304752384"/>
      </c:barChart>
      <c:lineChart>
        <c:grouping val="standard"/>
        <c:varyColors val="0"/>
        <c:ser>
          <c:idx val="1"/>
          <c:order val="1"/>
          <c:tx>
            <c:strRef>
              <c:f>'pivot tables'!$C$106</c:f>
              <c:strCache>
                <c:ptCount val="1"/>
                <c:pt idx="0">
                  <c:v>total_revenue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'pivot tables'!$A$107:$A$115</c:f>
              <c:strCache>
                <c:ptCount val="9"/>
                <c:pt idx="0">
                  <c:v>Packaged Chocolate</c:v>
                </c:pt>
                <c:pt idx="1">
                  <c:v>Branded</c:v>
                </c:pt>
                <c:pt idx="2">
                  <c:v>Loose Tea</c:v>
                </c:pt>
                <c:pt idx="3">
                  <c:v>Coffee beans</c:v>
                </c:pt>
                <c:pt idx="4">
                  <c:v>Flavours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'pivot tables'!$C$107:$C$115</c:f>
              <c:numCache>
                <c:formatCode>_([$$-409]* #,##0.00_);_([$$-409]* \(#,##0.00\);_([$$-409]* "-"??_);_(@_)</c:formatCode>
                <c:ptCount val="9"/>
                <c:pt idx="0">
                  <c:v>4407.6399788856497</c:v>
                </c:pt>
                <c:pt idx="1">
                  <c:v>13607</c:v>
                </c:pt>
                <c:pt idx="2">
                  <c:v>11213.599831581099</c:v>
                </c:pt>
                <c:pt idx="3">
                  <c:v>40085.250114440903</c:v>
                </c:pt>
                <c:pt idx="4">
                  <c:v>8408.8001253008806</c:v>
                </c:pt>
                <c:pt idx="5">
                  <c:v>72416</c:v>
                </c:pt>
                <c:pt idx="6">
                  <c:v>82315.640048026995</c:v>
                </c:pt>
                <c:pt idx="7">
                  <c:v>196405.94938111299</c:v>
                </c:pt>
                <c:pt idx="8">
                  <c:v>269952.45013165497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A2-4312-AC3E-C497A2812F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8860768"/>
        <c:axId val="768904448"/>
      </c:lineChart>
      <c:catAx>
        <c:axId val="30476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4752384"/>
        <c:crosses val="autoZero"/>
        <c:auto val="1"/>
        <c:lblAlgn val="ctr"/>
        <c:lblOffset val="100"/>
        <c:noMultiLvlLbl val="0"/>
      </c:catAx>
      <c:valAx>
        <c:axId val="3047523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i="0" u="none" strike="noStrike" baseline="0" dirty="0"/>
                  <a:t>Number of Sales</a:t>
                </a:r>
                <a:endParaRPr lang="en-US" sz="1400" b="1" dirty="0"/>
              </a:p>
            </c:rich>
          </c:tx>
          <c:layout>
            <c:manualLayout>
              <c:xMode val="edge"/>
              <c:yMode val="edge"/>
              <c:x val="5.2662032237712139E-3"/>
              <c:y val="0.160807887306150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4763904"/>
        <c:crosses val="autoZero"/>
        <c:crossBetween val="between"/>
      </c:valAx>
      <c:valAx>
        <c:axId val="768904448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i="0" u="none" strike="noStrike" baseline="0"/>
                  <a:t>Revenue</a:t>
                </a:r>
                <a:endParaRPr lang="en-US" sz="1400" b="1"/>
              </a:p>
            </c:rich>
          </c:tx>
          <c:layout>
            <c:manualLayout>
              <c:xMode val="edge"/>
              <c:yMode val="edge"/>
              <c:x val="0.93932287662922165"/>
              <c:y val="0.244384997182259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[$$-409]* #,##0.00_);_([$$-409]* \(#,##0.00\);_([$$-409]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860768"/>
        <c:crosses val="max"/>
        <c:crossBetween val="between"/>
      </c:valAx>
      <c:catAx>
        <c:axId val="7688607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68904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156135170603671"/>
          <c:y val="0.83335479948639146"/>
          <c:w val="0.31515573561831006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98100-8A66-4D5F-B32E-833E72D6D4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C6876-4EBA-45B6-8BA5-33509A080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34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C6876-4EBA-45B6-8BA5-33509A080E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0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C6876-4EBA-45B6-8BA5-33509A080E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91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AB33-262D-5F80-E8B8-94DF6B64A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BD363-822D-2D0F-9284-5E2E2C743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BEA27-B0AB-4AB5-6DDB-E37D31DC9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0B2EC-A712-8B33-BC77-BA6F09B89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11357-B07C-5E48-9146-DAB88DC4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7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9FD66-F64E-A007-EB67-FE1ED701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A6CB6-E4F3-FC6D-1E43-42D3016D1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E116F-3223-0EBA-E47B-89617FB38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84404-659D-EC49-8784-22EC60113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8AA61-818A-CAF3-D953-53CB224A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04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D863-91CB-3D84-DA4E-CE050702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A0AF8-635E-5A53-CCED-3F2CE8CC7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3F871-0FAC-3029-AEDD-243DAC41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54C3-C7E7-D7EB-E4F0-891DB6E7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6E79A-FB75-10CF-E92B-F69A9570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8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0D4D-8A2D-FE8F-DF26-519B7FE8E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B61BD-7534-B374-BD02-42E5849AC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2CF19-4FC6-8133-92B2-2157DA3B6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2C79F-CA40-ADD0-FD14-837671DE9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9F42B-7E42-9135-9003-9522BDDA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92D18-7F65-1073-3E2A-651E15B8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07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DE698-C2C5-6B84-709D-C03FC882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75B5D-B0BF-1942-FBD3-59A4F2DD5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9C820-5003-9B11-B57F-3CD691067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323A9-0826-8898-75A5-CC29A99E3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545CC-D389-26AB-8A6C-462DD7691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82573-F37B-B2BE-4850-7AA1C401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522D6-CD0E-561E-5313-7020C290B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4C94D-288F-E5CF-97CA-AF74ED50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CF14-70C9-761D-2EDC-DC5A0B3F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F27F6-333D-C440-A926-27D25382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5BBDB-A22A-A044-935C-B846B01B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D3C7-C810-AB9B-24FF-50FE587E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7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BB113-F9AB-E0F6-F791-DF3CA2BD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90A8C-91D4-85AC-4040-F67ACD93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2BC97-5722-1A76-CE1A-7B06E76E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9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620F-2D63-CD91-A3E3-664971698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58FB8-CA4A-0C1A-2E17-0B6175E47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B5C0B-FA97-AEF5-6913-44B8F6FA5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01C5E-F271-F4D1-F448-28AF0962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EB9D2-8AD4-3714-687F-43C2408CF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B82D-ACA4-4903-1816-3F419B12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08D5-71A1-089F-ECA6-C15C9A95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1AAD3-3A59-960C-607B-546DC134F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2FA0B-EFDB-D3C5-7A9A-4E3748B16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7CF5B-E53F-CED9-E699-8C346AB5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E5F01-D944-C4B5-5362-6596C904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70E7B-6CB0-DC3E-6FF3-DAF5EA80D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1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9497-EE55-FB9B-EEF7-CDF4295B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D6F85-00DB-D9D8-0D09-85CF2D209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F7A75-1C6A-6447-F7E4-0915E0D6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E3473-8476-B4A9-D8BB-6717C2C6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47678-BD32-AF7C-9B8F-D35C1131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3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C422B-09B7-3AE2-1B83-E34C80031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FDAD2-81FF-6D66-DCFE-30A3E2CB0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5D159-1C1D-AF70-3ACD-F54C36649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B3FAE-7004-171E-1AD8-84182EB1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C0AAB-F73A-7900-A8C4-11AF37CB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23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6FDF9-338B-E690-730F-E11A3FC0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1EBB4-9D1B-D2C5-23F1-EA7C8D63F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41F0-A2F9-CD64-AAD2-835A0DD29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D8096-2AC9-4724-B1A5-5D34AA495A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89E14-7E2E-7C7E-F02B-2E2D7817C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0349-E5A9-729F-AEFA-A675B44F4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39ED8-FB9D-4263-A017-0F17383E7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1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2C63BF-A277-312F-AFC1-AB655025A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528" y="-104322"/>
            <a:ext cx="12491049" cy="69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40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EA865-BC17-9493-CB14-D8D7742E4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330"/>
            <a:ext cx="12192000" cy="689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70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50606B-F624-57EF-9379-15645F449E94}"/>
              </a:ext>
            </a:extLst>
          </p:cNvPr>
          <p:cNvSpPr txBox="1"/>
          <p:nvPr/>
        </p:nvSpPr>
        <p:spPr>
          <a:xfrm>
            <a:off x="-2104845" y="-46168"/>
            <a:ext cx="9161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Consistent </a:t>
            </a:r>
            <a:r>
              <a:rPr lang="en-US" sz="2400" b="1" dirty="0">
                <a:solidFill>
                  <a:srgbClr val="000000"/>
                </a:solidFill>
                <a:effectLst/>
              </a:rPr>
              <a:t>growth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across locations</a:t>
            </a:r>
            <a:endParaRPr lang="en-US" sz="240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E96DFF-AC6E-4DF3-EE8A-5786DF820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632" y="646330"/>
            <a:ext cx="5672367" cy="2782669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D5A85CE-C46A-4D89-A928-0DCA47F6B8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5491043"/>
              </p:ext>
            </p:extLst>
          </p:nvPr>
        </p:nvGraphicFramePr>
        <p:xfrm>
          <a:off x="176440" y="3839384"/>
          <a:ext cx="6050189" cy="3018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157F410-117D-B171-DA41-D80BDB1AA5AF}"/>
              </a:ext>
            </a:extLst>
          </p:cNvPr>
          <p:cNvSpPr txBox="1"/>
          <p:nvPr/>
        </p:nvSpPr>
        <p:spPr>
          <a:xfrm>
            <a:off x="6403066" y="3429000"/>
            <a:ext cx="57889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a 7% decline in February, the business experienced a strong and sustained recovery, with peak growth of 32% in May, before momentum began to slow in June (6%), signaling a potential stabilization phase.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6E23ADB6-730E-47C4-8C15-4AFA8CECE2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5568815"/>
              </p:ext>
            </p:extLst>
          </p:nvPr>
        </p:nvGraphicFramePr>
        <p:xfrm>
          <a:off x="176439" y="722428"/>
          <a:ext cx="6226627" cy="270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0991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8B92423-9114-4900-9A4D-0F21058B97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4801403"/>
              </p:ext>
            </p:extLst>
          </p:nvPr>
        </p:nvGraphicFramePr>
        <p:xfrm>
          <a:off x="-1" y="867001"/>
          <a:ext cx="5965371" cy="4038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80DDA8E-D1EB-48D7-9B87-58217CEF15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003663"/>
              </p:ext>
            </p:extLst>
          </p:nvPr>
        </p:nvGraphicFramePr>
        <p:xfrm>
          <a:off x="6096000" y="867002"/>
          <a:ext cx="5965372" cy="4329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0167EF-60AC-7E7A-5905-A0F3F458FFF0}"/>
              </a:ext>
            </a:extLst>
          </p:cNvPr>
          <p:cNvSpPr txBox="1"/>
          <p:nvPr/>
        </p:nvSpPr>
        <p:spPr>
          <a:xfrm>
            <a:off x="219357" y="5730464"/>
            <a:ext cx="11074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Sales are heavily concentrated on weekdays, accounting for 72% of total revenue, highlighting strong weekday demand and an opportunity to boost weekend performance through targeted promotions and events.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50151-631C-D303-DE1C-8B744738BAD2}"/>
              </a:ext>
            </a:extLst>
          </p:cNvPr>
          <p:cNvSpPr txBox="1"/>
          <p:nvPr/>
        </p:nvSpPr>
        <p:spPr>
          <a:xfrm>
            <a:off x="-65315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Revenue Performance by Day</a:t>
            </a:r>
          </a:p>
        </p:txBody>
      </p:sp>
    </p:spTree>
    <p:extLst>
      <p:ext uri="{BB962C8B-B14F-4D97-AF65-F5344CB8AC3E}">
        <p14:creationId xmlns:p14="http://schemas.microsoft.com/office/powerpoint/2010/main" val="1153054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20CBB66-38B5-4BB1-862B-4AEBBB231D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9816428"/>
              </p:ext>
            </p:extLst>
          </p:nvPr>
        </p:nvGraphicFramePr>
        <p:xfrm>
          <a:off x="62897" y="621102"/>
          <a:ext cx="6096000" cy="4458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8AA0FA8-83E4-730A-D2D6-9DCD197B552E}"/>
              </a:ext>
            </a:extLst>
          </p:cNvPr>
          <p:cNvSpPr txBox="1"/>
          <p:nvPr/>
        </p:nvSpPr>
        <p:spPr>
          <a:xfrm>
            <a:off x="-694222" y="0"/>
            <a:ext cx="8009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Demand Skews Heavily Toward Morning Hours</a:t>
            </a:r>
            <a:endParaRPr lang="en-US" sz="240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8CAA6-2238-21C6-04EE-E6ABBF75D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507" y="621102"/>
            <a:ext cx="4836176" cy="45717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992AC1-9340-9A0E-3A4A-BD7449D612F3}"/>
              </a:ext>
            </a:extLst>
          </p:cNvPr>
          <p:cNvSpPr txBox="1"/>
          <p:nvPr/>
        </p:nvSpPr>
        <p:spPr>
          <a:xfrm>
            <a:off x="268512" y="5192876"/>
            <a:ext cx="9717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Mornings drive peak revenue, while afternoons and evenings lag.</a:t>
            </a:r>
            <a:endParaRPr lang="en-US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Happy hour specials and evening events can boost off-peak sales and balance daily traffic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564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6500EE7-F4CE-4DD3-B9C0-89318AB9F1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1430832"/>
              </p:ext>
            </p:extLst>
          </p:nvPr>
        </p:nvGraphicFramePr>
        <p:xfrm>
          <a:off x="0" y="725714"/>
          <a:ext cx="5921827" cy="4812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B21E2F2-5A1D-0954-7AB3-E73760E83E5E}"/>
              </a:ext>
            </a:extLst>
          </p:cNvPr>
          <p:cNvSpPr txBox="1"/>
          <p:nvPr/>
        </p:nvSpPr>
        <p:spPr>
          <a:xfrm>
            <a:off x="-87087" y="60135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Low-selling categories can boost revenue when bundled with top sellers and promoted strategically.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1BA4EA9-ED8C-4897-8282-B549CC1623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7419847"/>
              </p:ext>
            </p:extLst>
          </p:nvPr>
        </p:nvGraphicFramePr>
        <p:xfrm>
          <a:off x="5921827" y="725714"/>
          <a:ext cx="6270172" cy="5129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48232C0-0A0D-08E8-8373-7BFAF7E739D0}"/>
              </a:ext>
            </a:extLst>
          </p:cNvPr>
          <p:cNvSpPr txBox="1"/>
          <p:nvPr/>
        </p:nvSpPr>
        <p:spPr>
          <a:xfrm>
            <a:off x="6241143" y="60135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Premium niches like coffee beans and Drinking Chocolate drive strong revenue despite low sales, so we should invest in both top sellers and high‑value niches to boost profit.</a:t>
            </a:r>
            <a:endParaRPr lang="en-US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E51E4-B4B7-FB3C-265F-251137B2D90C}"/>
              </a:ext>
            </a:extLst>
          </p:cNvPr>
          <p:cNvSpPr txBox="1"/>
          <p:nvPr/>
        </p:nvSpPr>
        <p:spPr>
          <a:xfrm>
            <a:off x="0" y="0"/>
            <a:ext cx="6233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Product Category Performance</a:t>
            </a:r>
          </a:p>
        </p:txBody>
      </p:sp>
    </p:spTree>
    <p:extLst>
      <p:ext uri="{BB962C8B-B14F-4D97-AF65-F5344CB8AC3E}">
        <p14:creationId xmlns:p14="http://schemas.microsoft.com/office/powerpoint/2010/main" val="42007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DB3119-9300-E237-2CA9-F82C200E919A}"/>
              </a:ext>
            </a:extLst>
          </p:cNvPr>
          <p:cNvSpPr txBox="1"/>
          <p:nvPr/>
        </p:nvSpPr>
        <p:spPr>
          <a:xfrm>
            <a:off x="-1538514" y="1419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1" i="0" u="sng" dirty="0">
                <a:solidFill>
                  <a:srgbClr val="000000"/>
                </a:solidFill>
                <a:effectLst/>
              </a:rPr>
              <a:t>Recommendations</a:t>
            </a:r>
            <a:endParaRPr lang="en-US" u="sng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31701-62EF-55D6-C068-A5C012355FD7}"/>
              </a:ext>
            </a:extLst>
          </p:cNvPr>
          <p:cNvSpPr txBox="1"/>
          <p:nvPr/>
        </p:nvSpPr>
        <p:spPr>
          <a:xfrm>
            <a:off x="0" y="627520"/>
            <a:ext cx="6865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Implement targeted February promotions or loyalty incentives to counter seasonal sales dips</a:t>
            </a:r>
            <a:endParaRPr lang="en-US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87908-3CDA-030B-1C14-F882107D3CDB}"/>
              </a:ext>
            </a:extLst>
          </p:cNvPr>
          <p:cNvSpPr txBox="1"/>
          <p:nvPr/>
        </p:nvSpPr>
        <p:spPr>
          <a:xfrm>
            <a:off x="0" y="1273851"/>
            <a:ext cx="6865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Turn weekend slowdowns into revenue wins with targeted promotions, events and special offers.</a:t>
            </a:r>
            <a:endParaRPr lang="en-US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EE625-3CBF-F3A4-98F0-9EBE23623F3B}"/>
              </a:ext>
            </a:extLst>
          </p:cNvPr>
          <p:cNvSpPr txBox="1"/>
          <p:nvPr/>
        </p:nvSpPr>
        <p:spPr>
          <a:xfrm>
            <a:off x="0" y="1920182"/>
            <a:ext cx="6865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Offer deals and events in slow afternoons and evenings to bring in more customers and increase sales</a:t>
            </a:r>
            <a:endParaRPr lang="en-US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1BAE56-2BB3-D29B-A87C-C7F3C42EDFF3}"/>
              </a:ext>
            </a:extLst>
          </p:cNvPr>
          <p:cNvSpPr txBox="1"/>
          <p:nvPr/>
        </p:nvSpPr>
        <p:spPr>
          <a:xfrm>
            <a:off x="0" y="2566513"/>
            <a:ext cx="6865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Invest in top sellers and high-value niches like coffee beans </a:t>
            </a:r>
            <a:r>
              <a:rPr lang="en-US" b="0" i="0">
                <a:solidFill>
                  <a:srgbClr val="000000"/>
                </a:solidFill>
                <a:effectLst/>
              </a:rPr>
              <a:t>and drinking </a:t>
            </a:r>
            <a:r>
              <a:rPr lang="en-US" dirty="0">
                <a:solidFill>
                  <a:srgbClr val="000000"/>
                </a:solidFill>
              </a:rPr>
              <a:t>c</a:t>
            </a:r>
            <a:r>
              <a:rPr lang="en-US" b="0" i="0">
                <a:solidFill>
                  <a:srgbClr val="000000"/>
                </a:solidFill>
                <a:effectLst/>
              </a:rPr>
              <a:t>hocolate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to maximize profit.</a:t>
            </a:r>
            <a:endParaRPr lang="en-US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E4CFF9-5306-1DC9-3946-E6BAE7770D98}"/>
              </a:ext>
            </a:extLst>
          </p:cNvPr>
          <p:cNvSpPr txBox="1"/>
          <p:nvPr/>
        </p:nvSpPr>
        <p:spPr>
          <a:xfrm>
            <a:off x="0" y="3212844"/>
            <a:ext cx="6865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Bundle low-performing categories with top sellers and run targeted promotions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399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301</Words>
  <Application>Microsoft Office PowerPoint</Application>
  <PresentationFormat>Widescreen</PresentationFormat>
  <Paragraphs>29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nolwazi ndiweni</dc:creator>
  <cp:lastModifiedBy>nolwazi ndiweni</cp:lastModifiedBy>
  <cp:revision>2</cp:revision>
  <dcterms:created xsi:type="dcterms:W3CDTF">2026-03-24T12:29:19Z</dcterms:created>
  <dcterms:modified xsi:type="dcterms:W3CDTF">2026-04-21T16:16:53Z</dcterms:modified>
</cp:coreProperties>
</file>